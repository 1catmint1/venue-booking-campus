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f7c4407f4e44ef" /><Relationship Type="http://schemas.openxmlformats.org/officeDocument/2006/relationships/extended-properties" Target="/docProps/app.xml" Id="R021247dce9b84732" /><Relationship Type="http://schemas.openxmlformats.org/officeDocument/2006/relationships/officeDocument" Target="/ppt/presentation.xml" Id="Rdceab4c98f064f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b89e055ba453f"/>
  </p:sldMasterIdLst>
  <p:notesMasterIdLst>
    <p:notesMasterId xmlns:r="http://schemas.openxmlformats.org/officeDocument/2006/relationships" r:id="R20aa3721ac9843f4"/>
  </p:notesMasterIdLst>
  <p:sldIdLst>
    <p:sldId xmlns:r="http://schemas.openxmlformats.org/officeDocument/2006/relationships" id="256" r:id="R91261ad15c6d44ac"/>
    <p:sldId xmlns:r="http://schemas.openxmlformats.org/officeDocument/2006/relationships" id="257" r:id="R3a1fd11cc6b44f6c"/>
    <p:sldId xmlns:r="http://schemas.openxmlformats.org/officeDocument/2006/relationships" id="258" r:id="Re919637c3b4540bb"/>
    <p:sldId xmlns:r="http://schemas.openxmlformats.org/officeDocument/2006/relationships" id="259" r:id="Re524fb327de7432e"/>
    <p:sldId xmlns:r="http://schemas.openxmlformats.org/officeDocument/2006/relationships" id="260" r:id="Ree39009f6ad9470f"/>
    <p:sldId xmlns:r="http://schemas.openxmlformats.org/officeDocument/2006/relationships" id="261" r:id="Ra28ebfb809b149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a905550c554cda" /><Relationship Type="http://schemas.openxmlformats.org/officeDocument/2006/relationships/slideMaster" Target="/ppt/slideMasters/slideMaster1.xml" Id="Rdbfb89e055ba453f" /><Relationship Type="http://schemas.openxmlformats.org/officeDocument/2006/relationships/notesMaster" Target="/ppt/notesMasters/notesMaster1.xml" Id="R20aa3721ac9843f4" /><Relationship Type="http://schemas.openxmlformats.org/officeDocument/2006/relationships/presProps" Target="/ppt/presProps.xml" Id="Ra9afb266e7904940" /><Relationship Type="http://schemas.openxmlformats.org/officeDocument/2006/relationships/tableStyles" Target="/ppt/tableStyles.xml" Id="Re9359fcc89834a64" /><Relationship Type="http://schemas.openxmlformats.org/officeDocument/2006/relationships/slide" Target="/ppt/slides/slide1.xml" Id="R91261ad15c6d44ac" /><Relationship Type="http://schemas.openxmlformats.org/officeDocument/2006/relationships/slide" Target="/ppt/slides/slide2.xml" Id="R3a1fd11cc6b44f6c" /><Relationship Type="http://schemas.openxmlformats.org/officeDocument/2006/relationships/slide" Target="/ppt/slides/slide3.xml" Id="Re919637c3b4540bb" /><Relationship Type="http://schemas.openxmlformats.org/officeDocument/2006/relationships/slide" Target="/ppt/slides/slide4.xml" Id="Re524fb327de7432e" /><Relationship Type="http://schemas.openxmlformats.org/officeDocument/2006/relationships/slide" Target="/ppt/slides/slide5.xml" Id="Ree39009f6ad9470f" /><Relationship Type="http://schemas.openxmlformats.org/officeDocument/2006/relationships/slide" Target="/ppt/slides/slide6.xml" Id="Ra28ebfb809b149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52891757204a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59fefcc7074375" /><Relationship Type="http://schemas.openxmlformats.org/officeDocument/2006/relationships/notesMaster" Target="/ppt/notesMasters/notesMaster1.xml" Id="R93cc769f194943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d6939b7feb4d94" /><Relationship Type="http://schemas.openxmlformats.org/officeDocument/2006/relationships/notesMaster" Target="/ppt/notesMasters/notesMaster1.xml" Id="R6307a93793b349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c7f98323d947a7" /><Relationship Type="http://schemas.openxmlformats.org/officeDocument/2006/relationships/notesMaster" Target="/ppt/notesMasters/notesMaster1.xml" Id="Rf3041287b9b943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9710229644789" /><Relationship Type="http://schemas.openxmlformats.org/officeDocument/2006/relationships/notesMaster" Target="/ppt/notesMasters/notesMaster1.xml" Id="R5e43a3246ca540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e7828eba44c5a" /><Relationship Type="http://schemas.openxmlformats.org/officeDocument/2006/relationships/notesMaster" Target="/ppt/notesMasters/notesMaster1.xml" Id="Rc91d3b05ea1841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1841b1a1e94a47" /><Relationship Type="http://schemas.openxmlformats.org/officeDocument/2006/relationships/notesMaster" Target="/ppt/notesMasters/notesMaster1.xml" Id="R7eec1d58f01b42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独立参赛演示，非学校官方预约服务。照片：Flora，公有领域。https://commons.wikimedia.org/wiki/File:Stadium_of_Beijing_Institute_of_Technology.jpg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良乡照片：HoweyYuan，CC BY-SA 4.0。https://commons.wikimedia.org/wiki/File:Campus_gymnasium_of_BIT_20250212_131636.jpg 。图片保留独立许可与署名，代码许可不覆盖照片。校园用途背景参考该校官方启用报道，不把场景假设当真实用户统计。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官方评分来源：https://competition.gitcode.com/competition/2074797483593228289/intro ，商业价值40、创新30、完成20、规范10。商业模式与试点指标为产品假设。无真实高校背书、用户统计或营收。此稿尚未套用赛事指定官方模板，因为该链接受浏览器站点安全策略阻止访问。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依据本项目v1.2.0计价与权限实现和v1.3.0服务端回归结果。用户已选择价表优先，不能继续使用校外统一乘2规则。未配置真实学校认证来源时按未认证处理。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能力来自本项目源码与既有创新版本。本轮没有重新执行全部100/1000混杂历史评估；不把历史评估说成本次新测。DeepSeek/自定义API接入受同意与业务权限约束。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：outputs/cloud-load-20261015/load-pilot1000-20261015结果与CPU记录。千人首波1000个200、P99约1842ms，独立测试数据。本轮导出源码10项便携回归PASS，包括8组服务端与2项资源。原生新构建受总CPU保护中止，未包含旧HAP充当新版。原正常站仍每访客隔离，不代表正式共享库存已经发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9a4f1252641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9e938d1d741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c2e002c6348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e874c63b243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724d75ef54b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f35314abb47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9A5771-565A-4EE8-968A-1906A4ED39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7936CB-5837-4545-94DE-66B4132FB8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CAA97C3-1345-4C9F-B4B5-AC0F320F7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AF9455-98D7-4C77-8065-EDEBC97D1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132C7D-FEBD-4968-8EB1-6A698C178E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0D027B-9753-42E7-AAB1-28E2027986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7EA1CD-D498-4928-8C14-77BB0225D7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0C2A2A-5D4C-4E87-981C-39FD4510CD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22B308-8E2F-4FD0-8D74-0257D51EA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C8406A-D1E4-4CF0-ADF0-32755A77A5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19b172f824c6d" /><Relationship Type="http://schemas.openxmlformats.org/officeDocument/2006/relationships/slideLayout" Target="/ppt/slideLayouts/slideLayout1.xml" Id="Ra135a6a81760448c" /><Relationship Type="http://schemas.openxmlformats.org/officeDocument/2006/relationships/slideLayout" Target="/ppt/slideLayouts/slideLayout2.xml" Id="R82fbcf5ed0124481" /><Relationship Type="http://schemas.openxmlformats.org/officeDocument/2006/relationships/slideLayout" Target="/ppt/slideLayouts/slideLayout3.xml" Id="R1f5c55e2d9294524" /><Relationship Type="http://schemas.openxmlformats.org/officeDocument/2006/relationships/slideLayout" Target="/ppt/slideLayouts/slideLayout4.xml" Id="Rf48810d2f096482a" /><Relationship Type="http://schemas.openxmlformats.org/officeDocument/2006/relationships/slideLayout" Target="/ppt/slideLayouts/slideLayout5.xml" Id="R992744387f1c438b" /><Relationship Type="http://schemas.openxmlformats.org/officeDocument/2006/relationships/slideLayout" Target="/ppt/slideLayouts/slideLayout6.xml" Id="Rda11e9bec9b346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35a6a81760448c"/>
    <p:sldLayoutId xmlns:r="http://schemas.openxmlformats.org/officeDocument/2006/relationships" id="2147483650" r:id="R82fbcf5ed0124481"/>
    <p:sldLayoutId xmlns:r="http://schemas.openxmlformats.org/officeDocument/2006/relationships" id="2147483651" r:id="R1f5c55e2d9294524"/>
    <p:sldLayoutId xmlns:r="http://schemas.openxmlformats.org/officeDocument/2006/relationships" id="2147483652" r:id="Rf48810d2f096482a"/>
    <p:sldLayoutId xmlns:r="http://schemas.openxmlformats.org/officeDocument/2006/relationships" id="2147483653" r:id="R992744387f1c438b"/>
    <p:sldLayoutId xmlns:r="http://schemas.openxmlformats.org/officeDocument/2006/relationships" id="2147483654" r:id="Rda11e9bec9b3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2422742d44dc7" /><Relationship Type="http://schemas.openxmlformats.org/officeDocument/2006/relationships/image" Target="/ppt/media/image.jpeg" Id="R91777f57082e41cd" /><Relationship Type="http://schemas.openxmlformats.org/officeDocument/2006/relationships/notesSlide" Target="/ppt/notesSlides/notesSlide1.xml" Id="R25b750da57bb43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5527742f04c79" /><Relationship Type="http://schemas.openxmlformats.org/officeDocument/2006/relationships/image" Target="/ppt/media/image2.jpeg" Id="R365ae2d325404984" /><Relationship Type="http://schemas.openxmlformats.org/officeDocument/2006/relationships/notesSlide" Target="/ppt/notesSlides/notesSlide2.xml" Id="Raf0157f70df54a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412588675948e5" /><Relationship Type="http://schemas.openxmlformats.org/officeDocument/2006/relationships/notesSlide" Target="/ppt/notesSlides/notesSlide3.xml" Id="R691cab2e88e241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e5207a1d14e7a" /><Relationship Type="http://schemas.openxmlformats.org/officeDocument/2006/relationships/notesSlide" Target="/ppt/notesSlides/notesSlide4.xml" Id="R6f712228b9814f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6b4178f634326" /><Relationship Type="http://schemas.openxmlformats.org/officeDocument/2006/relationships/notesSlide" Target="/ppt/notesSlides/notesSlide5.xml" Id="R5c0b8861849d4d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fe0359065432a" /><Relationship Type="http://schemas.openxmlformats.org/officeDocument/2006/relationships/notesSlide" Target="/ppt/notesSlides/notesSlide6.xml" Id="R51023ad69f2240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D19C8-8F4D-46AE-A381-3A5D436F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北理场馆预约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6F444-2EE3-4103-8DCE-1288F87D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面向校园日常运动的</a:t>
            </a:r>
          </a:p>
          <a:p xmlns:a="http://schemas.openxmlformats.org/drawingml/2006/main">
            <a:pPr>
              <a:defRPr sz="247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公益场馆服务应用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03EB5-3A71-4EF1-B62C-35B8008B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v1.3.0 本地创新版 · 界面已验收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D5495-F863-4A48-89C1-CCEA42ECE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77f57082e41cd"/>
          <a:srcRect xmlns:a="http://schemas.openxmlformats.org/drawingml/2006/main" l="14583" t="0" r="14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630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7782F-E0A2-4DE3-860D-6CD0F5FE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商业价值 40分｜校园高频需求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4CEE7-EF6A-4022-AE7F-336672C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课后球局与晚间锻炼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CCD83-5986-4422-AE83-86288BE0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同一学生需要反复协调课余时间、所在校区与热门场次。清楚的报价和候补结果，影响每一次运动能否顺利安排。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90CB4-A5BD-4DD2-ABEF-8FB4CBBD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每周社团训练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B9066-DF7B-42A9-BF75-E0AE39E1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负责人持续跟进团体申请。</a:t>
            </a:r>
          </a:p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场馆人员按职责审批与核验。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72875-C40E-4843-8CB8-C7FF998BF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ae2d325404984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638300"/>
            <a:ext cx="5657850" cy="3771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ACAFF-AF7F-47A6-80AF-6FC345E3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38800"/>
            <a:ext cx="565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产品使用场景假设，尚无真实运营频次统计</a:t>
            </a:r>
          </a:p>
        </p:txBody>
      </p:sp>
    </p:spTree>
    <p:extLst>
      <p:ext uri="{BB962C8B-B14F-4D97-AF65-F5344CB8AC3E}">
        <p14:creationId xmlns:p14="http://schemas.microsoft.com/office/powerpoint/2010/main" val="1576478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8DA1D-54AB-4298-9184-A99DEC3F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商业价值｜持续服务与试点路径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D4FB1-CB66-44FA-AC8C-8A1D13C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校园使用的必要性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73ED7-43FF-45F1-9892-836D0A23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095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把有限场地用于持续的日常锻炼。减少满场后的重复尝试，让异常、退款与停场处理有明确责任人。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候补不出售优先权。</a:t>
            </a:r>
          </a:p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推荐分数不改变受理顺序。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C942C-7351-4312-879F-C5AA708A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383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部署与服务模式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78341-8901-4F2D-A8FD-505C29C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5048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面向高校提供系统集成、部署维护与运营支持。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拟通过预约完成率、候补接收率、空置时长和人工处理时长验证价值。尚未签约或产生营收。</a:t>
            </a:r>
          </a:p>
        </p:txBody>
      </p:sp>
    </p:spTree>
    <p:extLst>
      <p:ext uri="{BB962C8B-B14F-4D97-AF65-F5344CB8AC3E}">
        <p14:creationId xmlns:p14="http://schemas.microsoft.com/office/powerpoint/2010/main" val="306353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D66A4-8434-4D45-964C-5631C03F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创新性 30分｜公平与身份价格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8291E-B9E4-4951-B336-DDA81089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满场也有明确去向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A8FE4-512F-458E-87CC-C519B038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不可预约格可直接登记候补，保留当前页面。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按服务端受理序号递补，推荐分数与付费能力不改变顺序。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F3546-8445-46C8-822E-A6415ED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计价依据认证身份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E1558-A989-440B-8A8A-93AF1B2C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学生、教工与校外人员分别计价。</a:t>
            </a:r>
          </a:p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具体金额随项目和时段变化。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下单保存价格快照，认证或报价变化需要再次确认。退款依据原单支付金额。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ACBDC-B438-4269-A9D7-576FC674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当前学校认证、支付与退款均为明确标注的模拟流程</a:t>
            </a:r>
          </a:p>
        </p:txBody>
      </p:sp>
    </p:spTree>
    <p:extLst>
      <p:ext uri="{BB962C8B-B14F-4D97-AF65-F5344CB8AC3E}">
        <p14:creationId xmlns:p14="http://schemas.microsoft.com/office/powerpoint/2010/main" val="2043713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86A09-6905-43D0-AE5E-F6A95AD9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创新性｜混杂历史与角色协作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CF404-B795-4A7C-8F58-8E44F77A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混杂历史中的运动偏好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C9189-D187-498D-8803-B004837C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095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100/1000条混杂合成行为对照；按日期去重、意图权重与时间衰减聚合。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均匀噪声保持不确定，近期偏好变化可更新排序。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推荐不改变候补顺序，AI操作需确认。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10712-D205-49BF-A06A-B8D439BB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十二种工作身份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DA224-5663-4656-80B4-26608815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5048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按校区、场馆、业务与授权有效期限制菜单、数据和操作。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服务端逐项鉴权，普通用户不能自行审核资格、修改规则或执行管理退款。</a:t>
            </a:r>
          </a:p>
        </p:txBody>
      </p:sp>
    </p:spTree>
    <p:extLst>
      <p:ext uri="{BB962C8B-B14F-4D97-AF65-F5344CB8AC3E}">
        <p14:creationId xmlns:p14="http://schemas.microsoft.com/office/powerpoint/2010/main" val="1563145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0920B-A4C3-4EFE-86FF-B3F4CEC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完成度 20分 · 规范性 10分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707D0-8721-4B06-B606-1E9C205B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公网共享测试内核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A83B1-570E-4A41-B19C-4C33447A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B9FF3-A86D-4F57-9C13-319B7C6F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同时请求同一测试时段</a:t>
            </a:r>
          </a:p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1个占用，999个候补</a:t>
            </a:r>
          </a:p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完整受理序号与前16次晋级正确</a:t>
            </a:r>
          </a:p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P99 约1.84秒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B1026-080B-47DE-A692-981FF57A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5C85"/>
                </a:solidFill>
                <a:latin typeface="Microsoft YaHei"/>
                <a:ea typeface="Microsoft YaHei"/>
                <a:cs typeface="Microsoft YaHei"/>
              </a:rPr>
              <a:t>正式能力仍需验证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4A5E5-D291-47A7-9D5C-F08445FE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857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公网万人测试尚未完成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真实学校、支付与通知接口待接入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3149"/>
                </a:solidFill>
                <a:latin typeface="Microsoft YaHei"/>
                <a:ea typeface="Microsoft YaHei"/>
                <a:cs typeface="Microsoft YaHei"/>
              </a:rPr>
              <a:t>v1.3.0真机体验、正式上架或兼容性认证待验证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F42FE-0CA7-4ECB-8E8B-BF4E3ECB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导出源码10项回归通过；权限矩阵、计价说明、资产许可与复现指南随附</a:t>
            </a:r>
          </a:p>
        </p:txBody>
      </p:sp>
    </p:spTree>
    <p:extLst>
      <p:ext uri="{BB962C8B-B14F-4D97-AF65-F5344CB8AC3E}">
        <p14:creationId xmlns:p14="http://schemas.microsoft.com/office/powerpoint/2010/main" val="1073517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2026-10-15T14:21:55.3500000Z</dcterms:created>
  <dcterms:modified xsi:type="dcterms:W3CDTF">2026-10-15T14:21:55.3520000Z</dcterms:modified>
</coreProperties>
</file>